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LRR Next Generation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Regulatory Reporting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Virtualization • Iceberg Persistence • Lineage as Data Product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Strategy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4114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0" y="48463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Internal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LRR Architecture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2618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unified transformation layer is critical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Engines Integration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901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Vendor-agnostic strategy for multi-engine support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Regulatory Reporting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542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+ Complementary data flows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9728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Iceberg Persistence Strategy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18211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Y-Architecture for sources without native history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9728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Auditability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8221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+ Transformation lineage in Data Lakehouse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9728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as Data Product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4622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schema, governance &amp; semantic layer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LRR: The Translation Layer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entry point • Teradata-native • Ready for granular reporting (IReF, Loan Tapes)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05840"/>
            <a:ext cx="100584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 GL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Teradata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9164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03120" y="914400"/>
            <a:ext cx="1463040" cy="685800"/>
          </a:xfrm>
          <a:prstGeom prst="rect">
            <a:avLst/>
          </a:prstGeom>
          <a:solidFill>
            <a:srgbClr val="F59E0B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9601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LRR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transformations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23360" y="1051560"/>
            <a:ext cx="914400" cy="457200"/>
          </a:xfrm>
          <a:prstGeom prst="rect">
            <a:avLst/>
          </a:prstGeom>
          <a:solidFill>
            <a:srgbClr val="0F23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1143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Files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983480" y="1097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0" y="1005840"/>
            <a:ext cx="1097280" cy="548640"/>
          </a:xfrm>
          <a:prstGeom prst="rect">
            <a:avLst/>
          </a:prstGeom>
          <a:solidFill>
            <a:srgbClr val="0F234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10241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Engines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Axiom•Regnology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6446520" y="10972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005840"/>
            <a:ext cx="822960" cy="548640"/>
          </a:xfrm>
          <a:prstGeom prst="rect">
            <a:avLst/>
          </a:prstGeom>
          <a:solidFill>
            <a:srgbClr val="0F23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051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XBRL/XML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680960" y="1005840"/>
            <a:ext cx="914400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10241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Points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IReF Tomorrow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457200" y="1828800"/>
            <a:ext cx="1645920" cy="1371600"/>
          </a:xfrm>
          <a:prstGeom prst="rect">
            <a:avLst/>
          </a:prstGeom>
          <a:solidFill>
            <a:srgbClr val="122B4D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1828800"/>
            <a:ext cx="16459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1920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Single Entry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2194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 layer for all engines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48640" y="2450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 untouched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2176272" y="1828800"/>
            <a:ext cx="1645920" cy="1371600"/>
          </a:xfrm>
          <a:prstGeom prst="rect">
            <a:avLst/>
          </a:prstGeom>
          <a:solidFill>
            <a:srgbClr val="122B4D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76272" y="1828800"/>
            <a:ext cx="164592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2267712" y="1920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🚫 Bypass Vendors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267712" y="2194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Skip neutral layers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2267712" y="2450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minimization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3895344" y="1828800"/>
            <a:ext cx="1645920" cy="1371600"/>
          </a:xfrm>
          <a:prstGeom prst="rect">
            <a:avLst/>
          </a:prstGeom>
          <a:solidFill>
            <a:srgbClr val="122B4D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95344" y="1828800"/>
            <a:ext cx="16459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3986784" y="1920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Lineage &amp; Watch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986784" y="2194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Source→Cell trace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3986784" y="2450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reg visibility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5614416" y="1828800"/>
            <a:ext cx="1645920" cy="1371600"/>
          </a:xfrm>
          <a:prstGeom prst="rect">
            <a:avLst/>
          </a:prstGeom>
          <a:solidFill>
            <a:srgbClr val="122B4D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14416" y="1828800"/>
            <a:ext cx="16459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9" name="Text 37"/>
          <p:cNvSpPr/>
          <p:nvPr/>
        </p:nvSpPr>
        <p:spPr>
          <a:xfrm>
            <a:off x="5705856" y="1920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Future Ready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705856" y="2194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Granular data points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5705856" y="2450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IReF/Loan Tapes ready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7333488" y="1828800"/>
            <a:ext cx="1645920" cy="1371600"/>
          </a:xfrm>
          <a:prstGeom prst="rect">
            <a:avLst/>
          </a:prstGeom>
          <a:solidFill>
            <a:srgbClr val="122B4D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33488" y="1828800"/>
            <a:ext cx="164592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4" name="Text 42"/>
          <p:cNvSpPr/>
          <p:nvPr/>
        </p:nvSpPr>
        <p:spPr>
          <a:xfrm>
            <a:off x="7424928" y="1920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Proven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424928" y="2194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30+ countries live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7424928" y="2450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Same tech as NEO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Tomorrow's regulation = granular data, not reports — Core LRR already produces the data points that IReF will require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7200" y="3749040"/>
            <a:ext cx="1353312" cy="502920"/>
          </a:xfrm>
          <a:prstGeom prst="rect">
            <a:avLst/>
          </a:prstGeom>
          <a:solidFill>
            <a:srgbClr val="122B4D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76732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57200" y="404164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for all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1874520" y="3749040"/>
            <a:ext cx="1353312" cy="502920"/>
          </a:xfrm>
          <a:prstGeom prst="rect">
            <a:avLst/>
          </a:prstGeom>
          <a:solidFill>
            <a:srgbClr val="122B4D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74520" y="376732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-70%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874520" y="404164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to vendors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3291840" y="3749040"/>
            <a:ext cx="1353312" cy="502920"/>
          </a:xfrm>
          <a:prstGeom prst="rect">
            <a:avLst/>
          </a:prstGeom>
          <a:solidFill>
            <a:srgbClr val="122B4D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91840" y="376732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E2E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3291840" y="404164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4709160" y="3749040"/>
            <a:ext cx="1353312" cy="502920"/>
          </a:xfrm>
          <a:prstGeom prst="rect">
            <a:avLst/>
          </a:prstGeom>
          <a:solidFill>
            <a:srgbClr val="122B4D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09160" y="376732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IReF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709160" y="404164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6126480" y="3749040"/>
            <a:ext cx="1353312" cy="502920"/>
          </a:xfrm>
          <a:prstGeom prst="rect">
            <a:avLst/>
          </a:prstGeom>
          <a:solidFill>
            <a:srgbClr val="122B4D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26480" y="376732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6126480" y="404164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7543800" y="3749040"/>
            <a:ext cx="1353312" cy="502920"/>
          </a:xfrm>
          <a:prstGeom prst="rect">
            <a:avLst/>
          </a:prstGeom>
          <a:solidFill>
            <a:srgbClr val="122B4D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43800" y="376732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7543800" y="404164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 changes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Engines: Vendor-Agnostic Integration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LRR delivers Master Files in the exact format each engine expects — no vendor-specific transformations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828800" cy="1371600"/>
          </a:xfrm>
          <a:prstGeom prst="rect">
            <a:avLst/>
          </a:prstGeom>
          <a:solidFill>
            <a:srgbClr val="0891B2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LRR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Files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33172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0" y="914400"/>
            <a:ext cx="1920240" cy="1143000"/>
          </a:xfrm>
          <a:prstGeom prst="rect">
            <a:avLst/>
          </a:prstGeom>
          <a:solidFill>
            <a:srgbClr val="122B4D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914400"/>
            <a:ext cx="192024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005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34640" y="120700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Wolters Kluwer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2834640" y="138988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EMEA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023360" y="1783080"/>
            <a:ext cx="54864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1783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1920240" cy="1143000"/>
          </a:xfrm>
          <a:prstGeom prst="rect">
            <a:avLst/>
          </a:prstGeom>
          <a:solidFill>
            <a:srgbClr val="122B4D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914400"/>
            <a:ext cx="19202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005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OneSumX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120700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Wolters Kluwer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4846320" y="138988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035040" y="1783080"/>
            <a:ext cx="54864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1783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6766560" y="914400"/>
            <a:ext cx="1920240" cy="1143000"/>
          </a:xfrm>
          <a:prstGeom prst="rect">
            <a:avLst/>
          </a:prstGeom>
          <a:solidFill>
            <a:srgbClr val="122B4D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914400"/>
            <a:ext cx="19202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1005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REGNOLOGY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120700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BearingPoint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858000" y="138988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DE,SG,HK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046720" y="1783080"/>
            <a:ext cx="54864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0" y="17830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2743200" y="2148840"/>
            <a:ext cx="1920240" cy="1143000"/>
          </a:xfrm>
          <a:prstGeom prst="rect">
            <a:avLst/>
          </a:prstGeom>
          <a:solidFill>
            <a:srgbClr val="122B4D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0" y="2148840"/>
            <a:ext cx="19202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2834640" y="22402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WKFS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34640" y="24414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Wolters Kluwer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2834640" y="26243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023360" y="3017520"/>
            <a:ext cx="54864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4023360" y="3017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4754880" y="2148840"/>
            <a:ext cx="1920240" cy="1143000"/>
          </a:xfrm>
          <a:prstGeom prst="rect">
            <a:avLst/>
          </a:prstGeom>
          <a:solidFill>
            <a:srgbClr val="122B4D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2148840"/>
            <a:ext cx="1920240" cy="457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22402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FLEXEL ONE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46320" y="24414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Vermeg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846320" y="26243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035040" y="3017520"/>
            <a:ext cx="54864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6035040" y="3017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6766560" y="2148840"/>
            <a:ext cx="1920240" cy="1143000"/>
          </a:xfrm>
          <a:prstGeom prst="rect">
            <a:avLst/>
          </a:prstGeom>
          <a:solidFill>
            <a:srgbClr val="122B4D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0" y="2148840"/>
            <a:ext cx="1920240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0" y="22402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58000" y="24414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6858000" y="26243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8046720" y="3017520"/>
            <a:ext cx="548640" cy="2011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9" name="Text 47"/>
          <p:cNvSpPr/>
          <p:nvPr/>
        </p:nvSpPr>
        <p:spPr>
          <a:xfrm>
            <a:off x="8046720" y="3017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457200" y="2377440"/>
            <a:ext cx="18288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2423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48640" y="26517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One format per engine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Config-driven specs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Vendor independence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dual maintenance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4A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35478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143000" y="35844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2286000" y="35478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2788920" y="35844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931920" y="35478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434840" y="35844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577840" y="35478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080760" y="35844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LRR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223760" y="35478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726680" y="35844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lock-in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Regulatory Reporting: Single Gateway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data via Core LRR + Complementary data directly to Report Engines = One coherent submission layer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6583680" cy="2011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DATA — GL with Native Audit Capacity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1463040" cy="822960"/>
          </a:xfrm>
          <a:prstGeom prst="rect">
            <a:avLst/>
          </a:prstGeom>
          <a:solidFill>
            <a:srgbClr val="122B4D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430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 GL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1280160" cy="475488"/>
          </a:xfrm>
          <a:prstGeom prst="rect">
            <a:avLst/>
          </a:prstGeom>
          <a:solidFill>
            <a:srgbClr val="16653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8988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BBF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NATIVE HISTORY</a:t>
            </a:r>
            <a:endParaRPr lang="en-US" sz="600" dirty="0"/>
          </a:p>
          <a:p>
            <a:pPr algn="ctr" indent="0" marL="0">
              <a:buNone/>
            </a:pPr>
            <a:r>
              <a:rPr lang="en-US" sz="600" b="1" dirty="0">
                <a:solidFill>
                  <a:srgbClr val="BBF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Ready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178308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03120" y="1097280"/>
            <a:ext cx="1280160" cy="822960"/>
          </a:xfrm>
          <a:prstGeom prst="rect">
            <a:avLst/>
          </a:prstGeom>
          <a:solidFill>
            <a:srgbClr val="0891B2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1430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LRR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2900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D3EE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2057400"/>
            <a:ext cx="329184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0574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 DATA — No Native History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74320" y="2304288"/>
            <a:ext cx="1188720" cy="292608"/>
          </a:xfrm>
          <a:prstGeom prst="rect">
            <a:avLst/>
          </a:prstGeom>
          <a:solidFill>
            <a:srgbClr val="122B4D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3225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143000" y="23591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⏱️✗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274320" y="2670048"/>
            <a:ext cx="1188720" cy="292608"/>
          </a:xfrm>
          <a:prstGeom prst="rect">
            <a:avLst/>
          </a:prstGeom>
          <a:solidFill>
            <a:srgbClr val="122B4D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6883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143000" y="27249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⏱️✗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274320" y="3035808"/>
            <a:ext cx="1188720" cy="292608"/>
          </a:xfrm>
          <a:prstGeom prst="rect">
            <a:avLst/>
          </a:prstGeom>
          <a:solidFill>
            <a:srgbClr val="122B4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0540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DATA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1143000" y="3090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⏱️✗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274320" y="3401568"/>
            <a:ext cx="1188720" cy="292608"/>
          </a:xfrm>
          <a:prstGeom prst="rect">
            <a:avLst/>
          </a:prstGeom>
          <a:solidFill>
            <a:srgbClr val="122B4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4198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1143000" y="34564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⏱️✗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1508760" y="2468880"/>
            <a:ext cx="2194560" cy="18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2103120" y="228600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→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3749040" y="1005840"/>
            <a:ext cx="2560320" cy="2560320"/>
          </a:xfrm>
          <a:prstGeom prst="rect">
            <a:avLst/>
          </a:prstGeom>
          <a:solidFill>
            <a:srgbClr val="1E3A5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1051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ENGINES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49040" y="12618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Facing Regulator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840480" y="1481328"/>
            <a:ext cx="2377440" cy="228600"/>
          </a:xfrm>
          <a:prstGeom prst="rect">
            <a:avLst/>
          </a:prstGeom>
          <a:solidFill>
            <a:srgbClr val="0F23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0" y="14813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COREP/FINREP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840480" y="1755648"/>
            <a:ext cx="2377440" cy="228600"/>
          </a:xfrm>
          <a:prstGeom prst="rect">
            <a:avLst/>
          </a:prstGeom>
          <a:solidFill>
            <a:srgbClr val="0F23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0" y="17556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AnaCredit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840480" y="2029968"/>
            <a:ext cx="2377440" cy="228600"/>
          </a:xfrm>
          <a:prstGeom prst="rect">
            <a:avLst/>
          </a:prstGeom>
          <a:solidFill>
            <a:srgbClr val="0F23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0" y="20299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(LCR)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840480" y="2304288"/>
            <a:ext cx="2377440" cy="228600"/>
          </a:xfrm>
          <a:prstGeom prst="rect">
            <a:avLst/>
          </a:prstGeom>
          <a:solidFill>
            <a:srgbClr val="0F2340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0" y="23042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Reports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840480" y="2578608"/>
            <a:ext cx="2377440" cy="228600"/>
          </a:xfrm>
          <a:prstGeom prst="rect">
            <a:avLst/>
          </a:prstGeom>
          <a:solidFill>
            <a:srgbClr val="0F23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0" y="25786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/ EBA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840480" y="2852928"/>
            <a:ext cx="2377440" cy="228600"/>
          </a:xfrm>
          <a:prstGeom prst="rect">
            <a:avLst/>
          </a:prstGeom>
          <a:solidFill>
            <a:srgbClr val="0F23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0" y="28529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AML/Compliance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840480" y="3154680"/>
            <a:ext cx="237744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7" name="Text 45"/>
          <p:cNvSpPr/>
          <p:nvPr/>
        </p:nvSpPr>
        <p:spPr>
          <a:xfrm>
            <a:off x="3840480" y="3154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Cross-Report Coherence Controls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35508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675120" y="1463040"/>
            <a:ext cx="914400" cy="548640"/>
          </a:xfrm>
          <a:prstGeom prst="rect">
            <a:avLst/>
          </a:prstGeom>
          <a:solidFill>
            <a:srgbClr val="122B4D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75120" y="1508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XBRL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675120" y="2103120"/>
            <a:ext cx="914400" cy="457200"/>
          </a:xfrm>
          <a:prstGeom prst="rect">
            <a:avLst/>
          </a:prstGeom>
          <a:solidFill>
            <a:srgbClr val="0F234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512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675120" y="2743200"/>
            <a:ext cx="2194560" cy="822960"/>
          </a:xfrm>
          <a:prstGeom prst="rect">
            <a:avLst/>
          </a:prstGeom>
          <a:solidFill>
            <a:srgbClr val="122B4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75120" y="27706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766560" y="2971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Necessary &amp; Sufficient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Owner Responsibility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 Gateway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Cross-Report Controls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Iceberg Persistence — Y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 native history for CAC • Iceberg for sources without time travel • Re-feed on demand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029200" cy="182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— GL Native History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1280160" cy="731520"/>
          </a:xfrm>
          <a:prstGeom prst="rect">
            <a:avLst/>
          </a:prstGeom>
          <a:solidFill>
            <a:srgbClr val="122B4D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 GL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Native History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CAC Ready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60020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20240" y="1051560"/>
            <a:ext cx="1097280" cy="731520"/>
          </a:xfrm>
          <a:prstGeom prst="rect">
            <a:avLst/>
          </a:prstGeom>
          <a:solidFill>
            <a:srgbClr val="0891B2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1143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6324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920240"/>
            <a:ext cx="2743200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9202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 — No Native History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274320" y="2148840"/>
            <a:ext cx="1005840" cy="237744"/>
          </a:xfrm>
          <a:prstGeom prst="rect">
            <a:avLst/>
          </a:prstGeom>
          <a:solidFill>
            <a:srgbClr val="122B4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1488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⏱️✗</a:t>
            </a:r>
            <a:endParaRPr lang="en-US" sz="500" dirty="0"/>
          </a:p>
        </p:txBody>
      </p:sp>
      <p:sp>
        <p:nvSpPr>
          <p:cNvPr id="17" name="Shape 15"/>
          <p:cNvSpPr/>
          <p:nvPr/>
        </p:nvSpPr>
        <p:spPr>
          <a:xfrm>
            <a:off x="274320" y="2441448"/>
            <a:ext cx="1005840" cy="237744"/>
          </a:xfrm>
          <a:prstGeom prst="rect">
            <a:avLst/>
          </a:prstGeom>
          <a:solidFill>
            <a:srgbClr val="122B4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414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⏱️✗</a:t>
            </a:r>
            <a:endParaRPr lang="en-US" sz="500" dirty="0"/>
          </a:p>
        </p:txBody>
      </p:sp>
      <p:sp>
        <p:nvSpPr>
          <p:cNvPr id="19" name="Shape 17"/>
          <p:cNvSpPr/>
          <p:nvPr/>
        </p:nvSpPr>
        <p:spPr>
          <a:xfrm>
            <a:off x="274320" y="2734056"/>
            <a:ext cx="1005840" cy="237744"/>
          </a:xfrm>
          <a:prstGeom prst="rect">
            <a:avLst/>
          </a:prstGeom>
          <a:solidFill>
            <a:srgbClr val="122B4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7340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⏱️✗</a:t>
            </a:r>
            <a:endParaRPr lang="en-US" sz="500" dirty="0"/>
          </a:p>
        </p:txBody>
      </p:sp>
      <p:sp>
        <p:nvSpPr>
          <p:cNvPr id="21" name="Shape 19"/>
          <p:cNvSpPr/>
          <p:nvPr/>
        </p:nvSpPr>
        <p:spPr>
          <a:xfrm>
            <a:off x="274320" y="3026664"/>
            <a:ext cx="1005840" cy="237744"/>
          </a:xfrm>
          <a:prstGeom prst="rect">
            <a:avLst/>
          </a:prstGeom>
          <a:solidFill>
            <a:srgbClr val="122B4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026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⏱️✗</a:t>
            </a:r>
            <a:endParaRPr lang="en-US" sz="500" dirty="0"/>
          </a:p>
        </p:txBody>
      </p:sp>
      <p:sp>
        <p:nvSpPr>
          <p:cNvPr id="23" name="Shape 21"/>
          <p:cNvSpPr/>
          <p:nvPr/>
        </p:nvSpPr>
        <p:spPr>
          <a:xfrm>
            <a:off x="1463040" y="2606040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Shape 22"/>
          <p:cNvSpPr/>
          <p:nvPr/>
        </p:nvSpPr>
        <p:spPr>
          <a:xfrm>
            <a:off x="1572768" y="1828800"/>
            <a:ext cx="18288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1572768" y="1828800"/>
            <a:ext cx="1783080" cy="18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2011680" y="16642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500" dirty="0"/>
          </a:p>
        </p:txBody>
      </p:sp>
      <p:sp>
        <p:nvSpPr>
          <p:cNvPr id="27" name="Shape 25"/>
          <p:cNvSpPr/>
          <p:nvPr/>
        </p:nvSpPr>
        <p:spPr>
          <a:xfrm>
            <a:off x="1572768" y="2670048"/>
            <a:ext cx="18288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8" name="Shape 26"/>
          <p:cNvSpPr/>
          <p:nvPr/>
        </p:nvSpPr>
        <p:spPr>
          <a:xfrm>
            <a:off x="1572768" y="3108960"/>
            <a:ext cx="457200" cy="182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318211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</a:t>
            </a:r>
            <a:endParaRPr lang="en-US" sz="500" dirty="0"/>
          </a:p>
        </p:txBody>
      </p:sp>
      <p:sp>
        <p:nvSpPr>
          <p:cNvPr id="30" name="Shape 28"/>
          <p:cNvSpPr/>
          <p:nvPr/>
        </p:nvSpPr>
        <p:spPr>
          <a:xfrm>
            <a:off x="2057400" y="2880360"/>
            <a:ext cx="1371600" cy="914400"/>
          </a:xfrm>
          <a:prstGeom prst="rect">
            <a:avLst/>
          </a:prstGeom>
          <a:solidFill>
            <a:srgbClr val="0C4A6E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5740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ICEBERG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/ Parquet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103120" y="3291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Travel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Snapshots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3410712" y="2103120"/>
            <a:ext cx="18288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0" y="1920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RE-FEED</a:t>
            </a:r>
            <a:endParaRPr lang="en-US" sz="500" dirty="0"/>
          </a:p>
        </p:txBody>
      </p:sp>
      <p:sp>
        <p:nvSpPr>
          <p:cNvPr id="35" name="Shape 33"/>
          <p:cNvSpPr/>
          <p:nvPr/>
        </p:nvSpPr>
        <p:spPr>
          <a:xfrm>
            <a:off x="3383280" y="914400"/>
            <a:ext cx="1828800" cy="2011680"/>
          </a:xfrm>
          <a:prstGeom prst="rect">
            <a:avLst/>
          </a:prstGeom>
          <a:solidFill>
            <a:srgbClr val="1E3A5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1005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74720" y="14173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COREP/FINREP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3474720" y="16184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AnaCredit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474720" y="18196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Liquidity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3474720" y="20208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Payments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3474720" y="22219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HR/EBA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3474720" y="2423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AML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3474720" y="2697480"/>
            <a:ext cx="1645920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4" name="Text 42"/>
          <p:cNvSpPr/>
          <p:nvPr/>
        </p:nvSpPr>
        <p:spPr>
          <a:xfrm>
            <a:off x="3474720" y="26974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Coherence Controls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525780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577840" y="1280160"/>
            <a:ext cx="731520" cy="457200"/>
          </a:xfrm>
          <a:prstGeom prst="rect">
            <a:avLst/>
          </a:prstGeom>
          <a:solidFill>
            <a:srgbClr val="122B4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77840" y="1371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XBRL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577840" y="1828800"/>
            <a:ext cx="731520" cy="411480"/>
          </a:xfrm>
          <a:prstGeom prst="rect">
            <a:avLst/>
          </a:prstGeom>
          <a:solidFill>
            <a:srgbClr val="0F234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77840" y="18745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400800" y="914400"/>
            <a:ext cx="2468880" cy="1371600"/>
          </a:xfrm>
          <a:prstGeom prst="rect">
            <a:avLst/>
          </a:prstGeom>
          <a:solidFill>
            <a:srgbClr val="122B4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9601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 AUDIT (CAC)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492240" y="1188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BF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Livre native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BF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Balances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BF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Accounting Events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BF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Closing Balances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BBF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Iceberg needed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400800" y="2377440"/>
            <a:ext cx="2468880" cy="1417320"/>
          </a:xfrm>
          <a:prstGeom prst="rect">
            <a:avLst/>
          </a:prstGeom>
          <a:solidFill>
            <a:srgbClr val="122B4D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0" y="24231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ICEBERG AUDIT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492240" y="26517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without history: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Liquidity snapshots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Payment records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HR data extracts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Compliance data</a:t>
            </a:r>
            <a:endParaRPr lang="en-US" sz="600" dirty="0"/>
          </a:p>
          <a:p>
            <a:pPr indent="0" marL="0">
              <a:buNone/>
            </a:pP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Time travel queries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Re-emission ready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Auditability — Data + Transformation Lineage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data + Calculation rules + Transformation logs → All persisted in Iceberg OTFs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548640"/>
          </a:xfrm>
          <a:prstGeom prst="rect">
            <a:avLst/>
          </a:prstGeom>
          <a:solidFill>
            <a:srgbClr val="7C2D12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EXECUTION ID — Universal Correlation Key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exec_id = 'LRR_COREP_2024Q3_FR_20240930_143052'  →  Links Sources + Rules + Results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2743200" cy="1371600"/>
          </a:xfrm>
          <a:prstGeom prst="rect">
            <a:avLst/>
          </a:prstGeom>
          <a:solidFill>
            <a:srgbClr val="0C4A6E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54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SOURCE DATA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7647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Iceberg Snapshots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Immutable snapshots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7200" y="22677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Tagged with exec_id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25237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Time-travel queryable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154680" y="1508760"/>
            <a:ext cx="2743200" cy="1371600"/>
          </a:xfrm>
          <a:prstGeom prst="rect">
            <a:avLst/>
          </a:prstGeom>
          <a:solidFill>
            <a:srgbClr val="0C4A6E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554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RULE VERSIONS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54680" y="17647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Metadata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337560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Version controlled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337560" y="22677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Hash for integrity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337560" y="25237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Parameters captured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035040" y="1508760"/>
            <a:ext cx="2743200" cy="1371600"/>
          </a:xfrm>
          <a:prstGeom prst="rect">
            <a:avLst/>
          </a:prstGeom>
          <a:solidFill>
            <a:srgbClr val="0C4A6E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554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CALCULATION RESULTS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17647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Cell-Level Lineage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217920" y="20116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Cell granularity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217920" y="22677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Source tables linked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217920" y="25237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Calc trace stored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74320" y="3017520"/>
            <a:ext cx="8595360" cy="1005840"/>
          </a:xfrm>
          <a:prstGeom prst="rect">
            <a:avLst/>
          </a:prstGeom>
          <a:solidFill>
            <a:srgbClr val="0C4A6E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0632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LAKEHOUSE — ICEBERG (Open Table Formats)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327355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/ Parquet — Full Reproducibility &amp; Auditability — Queryable via Starburst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57200" y="3493008"/>
            <a:ext cx="2651760" cy="475488"/>
          </a:xfrm>
          <a:prstGeom prst="rect">
            <a:avLst/>
          </a:prstGeom>
          <a:solidFill>
            <a:srgbClr val="0F234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5204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Data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48640" y="3675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 snapshots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records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extracts</a:t>
            </a:r>
            <a:endParaRPr lang="en-US" sz="500" dirty="0"/>
          </a:p>
        </p:txBody>
      </p:sp>
      <p:sp>
        <p:nvSpPr>
          <p:cNvPr id="32" name="Shape 30"/>
          <p:cNvSpPr/>
          <p:nvPr/>
        </p:nvSpPr>
        <p:spPr>
          <a:xfrm>
            <a:off x="3291840" y="3493008"/>
            <a:ext cx="2651760" cy="475488"/>
          </a:xfrm>
          <a:prstGeom prst="rect">
            <a:avLst/>
          </a:prstGeom>
          <a:solidFill>
            <a:srgbClr val="0F234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35204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Audit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383280" y="3675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LRR mappings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 params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results</a:t>
            </a:r>
            <a:endParaRPr lang="en-US" sz="500" dirty="0"/>
          </a:p>
        </p:txBody>
      </p:sp>
      <p:sp>
        <p:nvSpPr>
          <p:cNvPr id="35" name="Shape 33"/>
          <p:cNvSpPr/>
          <p:nvPr/>
        </p:nvSpPr>
        <p:spPr>
          <a:xfrm>
            <a:off x="6126480" y="3493008"/>
            <a:ext cx="2651760" cy="475488"/>
          </a:xfrm>
          <a:prstGeom prst="rect">
            <a:avLst/>
          </a:prstGeom>
          <a:solidFill>
            <a:srgbClr val="0F234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5204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Snapshots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217920" y="3675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Tagged per submission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versioned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records</a:t>
            </a:r>
            <a:endParaRPr lang="en-US" sz="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as a Data Product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schema with contracts, SLAs, ownership — queryable via Starburst Semantic Layer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3200400"/>
          </a:xfrm>
          <a:prstGeom prst="rect">
            <a:avLst/>
          </a:prstGeom>
          <a:solidFill>
            <a:srgbClr val="0C4A6E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ICEBERG METADATA SCHEMA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07899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iceberg.lrr_lineage.*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3931920" cy="548640"/>
          </a:xfrm>
          <a:prstGeom prst="rect">
            <a:avLst/>
          </a:prstGeom>
          <a:solidFill>
            <a:srgbClr val="0F23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execution_log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5819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exec_id, report_type, entity, period, status</a:t>
            </a:r>
            <a:endParaRPr lang="en-US" sz="500" dirty="0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3931920" cy="548640"/>
          </a:xfrm>
          <a:prstGeom prst="rect">
            <a:avLst/>
          </a:prstGeom>
          <a:solidFill>
            <a:srgbClr val="0F234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116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source_snapshots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" y="22219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exec_id FK, source_table, snapshot_id, ts</a:t>
            </a:r>
            <a:endParaRPr lang="en-US" sz="500" dirty="0"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3931920" cy="548640"/>
          </a:xfrm>
          <a:prstGeom prst="rect">
            <a:avLst/>
          </a:prstGeom>
          <a:solidFill>
            <a:srgbClr val="0F234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rule_versions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28620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exec_id FK, rule_name, version, hash, params</a:t>
            </a:r>
            <a:endParaRPr lang="en-US" sz="5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3931920" cy="548640"/>
          </a:xfrm>
          <a:prstGeom prst="rect">
            <a:avLst/>
          </a:prstGeom>
          <a:solidFill>
            <a:srgbClr val="0F234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91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cell_lineage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57200" y="35021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exec_id FK, cell_ref, value, sources[], rules[]</a:t>
            </a:r>
            <a:endParaRPr lang="en-US" sz="500" dirty="0"/>
          </a:p>
        </p:txBody>
      </p:sp>
      <p:sp>
        <p:nvSpPr>
          <p:cNvPr id="20" name="Shape 18"/>
          <p:cNvSpPr/>
          <p:nvPr/>
        </p:nvSpPr>
        <p:spPr>
          <a:xfrm>
            <a:off x="4572000" y="822960"/>
            <a:ext cx="4297680" cy="1828800"/>
          </a:xfrm>
          <a:prstGeom prst="rect">
            <a:avLst/>
          </a:prstGeom>
          <a:solidFill>
            <a:srgbClr val="1E3A5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8686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LINEAGE DATA PRODUCT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63440" y="11430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486400" y="11430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lrr-regulatory-lineage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663440" y="134416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5486400" y="134416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Strategy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4663440" y="15453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486400" y="154533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LRR Platform Team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663440" y="174650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486400" y="17465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99.5% • &lt;2s latency • 7yr retention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663440" y="19476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5486400" y="194767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versioned • 30d notice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663440" y="21488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5486400" y="21488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Starburst SQL • Semantic Views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663440" y="23500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5486400" y="23500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• CAC • Regulators • BI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4572000" y="2743200"/>
            <a:ext cx="4297680" cy="1280160"/>
          </a:xfrm>
          <a:prstGeom prst="rect">
            <a:avLst/>
          </a:prstGeom>
          <a:solidFill>
            <a:srgbClr val="122B4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27889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🔷 SEMANTIC LAYER (Starburst)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63440" y="3035808"/>
            <a:ext cx="4114800" cy="91440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39" name="Text 37"/>
          <p:cNvSpPr/>
          <p:nvPr/>
        </p:nvSpPr>
        <p:spPr>
          <a:xfrm>
            <a:off x="4709160" y="30632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Business-friendly view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e.report_type, e.period,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c.cell_ref AS "Cell",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c.value AS "Value",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r.rule_name AS "Rule"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execution_log e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cell_lineage c USING (exec_id)</a:t>
            </a:r>
            <a:endParaRPr lang="en-US" sz="500" dirty="0"/>
          </a:p>
          <a:p>
            <a:pPr indent="0" marL="0">
              <a:buNone/>
            </a:pPr>
            <a:r>
              <a:rPr lang="en-US" sz="5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rule_versions r USING (exec_id);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BNP Paribas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LRR Next Generation - Full Architecture</dc:title>
  <dc:subject>PptxGenJS Presentation</dc:subject>
  <dc:creator>Finance &amp; Strategy</dc:creator>
  <cp:lastModifiedBy>Finance &amp; Strategy</cp:lastModifiedBy>
  <cp:revision>1</cp:revision>
  <dcterms:created xsi:type="dcterms:W3CDTF">2026-02-10T21:42:54Z</dcterms:created>
  <dcterms:modified xsi:type="dcterms:W3CDTF">2026-02-10T21:42:54Z</dcterms:modified>
</cp:coreProperties>
</file>
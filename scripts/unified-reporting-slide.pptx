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LRR Next Generation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Regulatory Reporting: Single Gateway to Regulators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data via Core LRR + Complementary data directly to Report Engines = One coherent submission layer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828800" cy="2560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97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DATA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1828800" cy="640080"/>
          </a:xfrm>
          <a:prstGeom prst="rect">
            <a:avLst/>
          </a:prstGeom>
          <a:solidFill>
            <a:srgbClr val="122B4D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463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 GL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Ledger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Teradata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74320" y="2240280"/>
            <a:ext cx="1828800" cy="2560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2240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COMPLEMENTARY DATA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560320"/>
            <a:ext cx="1828800" cy="438912"/>
          </a:xfrm>
          <a:prstGeom prst="rect">
            <a:avLst/>
          </a:prstGeom>
          <a:solidFill>
            <a:srgbClr val="122B4D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606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LIQUIDITY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65760" y="2788920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 Systems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1371600" y="267004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Treasury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274320" y="3063240"/>
            <a:ext cx="1828800" cy="438912"/>
          </a:xfrm>
          <a:prstGeom prst="rect">
            <a:avLst/>
          </a:prstGeom>
          <a:solidFill>
            <a:srgbClr val="122B4D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108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65760" y="3291840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SWIFT, TARGET2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1371600" y="317296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1828800" cy="438912"/>
          </a:xfrm>
          <a:prstGeom prst="rect">
            <a:avLst/>
          </a:prstGeom>
          <a:solidFill>
            <a:srgbClr val="122B4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611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DATA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5760" y="3794760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Systems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1371600" y="367588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Resources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274320" y="4069080"/>
            <a:ext cx="1828800" cy="438912"/>
          </a:xfrm>
          <a:prstGeom prst="rect">
            <a:avLst/>
          </a:prstGeom>
          <a:solidFill>
            <a:srgbClr val="122B4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1148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65760" y="4297680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AML, KYC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1371600" y="417880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2377440" y="1234440"/>
            <a:ext cx="1645920" cy="1005840"/>
          </a:xfrm>
          <a:prstGeom prst="rect">
            <a:avLst/>
          </a:prstGeom>
          <a:solidFill>
            <a:srgbClr val="0891B2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77440" y="1325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LRR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377440" y="1600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Teradata Native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121408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D3EE"/>
                </a:solidFill>
              </a:rPr>
              <a:t>→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041648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D3EE"/>
                </a:solidFill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43400" y="1051560"/>
            <a:ext cx="2194560" cy="3520440"/>
          </a:xfrm>
          <a:prstGeom prst="rect">
            <a:avLst/>
          </a:prstGeom>
          <a:solidFill>
            <a:srgbClr val="1E3A5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43400" y="1097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ENGINES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343400" y="13533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Facing Regulator Platform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4434840" y="1600200"/>
            <a:ext cx="2011680" cy="384048"/>
          </a:xfrm>
          <a:prstGeom prst="rect">
            <a:avLst/>
          </a:prstGeom>
          <a:solidFill>
            <a:srgbClr val="0F23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26280" y="16459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COREP / FINREP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526280" y="1801368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Prudential &amp; Financial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4434840" y="2039112"/>
            <a:ext cx="2011680" cy="384048"/>
          </a:xfrm>
          <a:prstGeom prst="rect">
            <a:avLst/>
          </a:prstGeom>
          <a:solidFill>
            <a:srgbClr val="0F23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26280" y="208483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AnaCredit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526280" y="2240280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data granular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4434840" y="2478024"/>
            <a:ext cx="2011680" cy="384048"/>
          </a:xfrm>
          <a:prstGeom prst="rect">
            <a:avLst/>
          </a:prstGeom>
          <a:solidFill>
            <a:srgbClr val="0F234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26280" y="252374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Liquidity Reports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526280" y="2679192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LCR, NSFR, ALMM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4434840" y="2916936"/>
            <a:ext cx="2011680" cy="384048"/>
          </a:xfrm>
          <a:prstGeom prst="rect">
            <a:avLst/>
          </a:prstGeom>
          <a:solidFill>
            <a:srgbClr val="0F2340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26280" y="296265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Reports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526280" y="3118104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TARGET2, SWIFT stats</a:t>
            </a:r>
            <a:endParaRPr lang="en-US" sz="600" dirty="0"/>
          </a:p>
        </p:txBody>
      </p:sp>
      <p:sp>
        <p:nvSpPr>
          <p:cNvPr id="48" name="Shape 46"/>
          <p:cNvSpPr/>
          <p:nvPr/>
        </p:nvSpPr>
        <p:spPr>
          <a:xfrm>
            <a:off x="4434840" y="3355848"/>
            <a:ext cx="2011680" cy="384048"/>
          </a:xfrm>
          <a:prstGeom prst="rect">
            <a:avLst/>
          </a:prstGeom>
          <a:solidFill>
            <a:srgbClr val="0F23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26280" y="340156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Reports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4526280" y="3557016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EBA remuneration</a:t>
            </a:r>
            <a:endParaRPr lang="en-US" sz="600" dirty="0"/>
          </a:p>
        </p:txBody>
      </p:sp>
      <p:sp>
        <p:nvSpPr>
          <p:cNvPr id="51" name="Shape 49"/>
          <p:cNvSpPr/>
          <p:nvPr/>
        </p:nvSpPr>
        <p:spPr>
          <a:xfrm>
            <a:off x="4434840" y="3794760"/>
            <a:ext cx="2011680" cy="384048"/>
          </a:xfrm>
          <a:prstGeom prst="rect">
            <a:avLst/>
          </a:prstGeom>
          <a:solidFill>
            <a:srgbClr val="0F234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26280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AML / Compliance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4526280" y="3995928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filings</a:t>
            </a:r>
            <a:endParaRPr lang="en-US" sz="600" dirty="0"/>
          </a:p>
        </p:txBody>
      </p:sp>
      <p:sp>
        <p:nvSpPr>
          <p:cNvPr id="54" name="Shape 52"/>
          <p:cNvSpPr/>
          <p:nvPr/>
        </p:nvSpPr>
        <p:spPr>
          <a:xfrm>
            <a:off x="4434840" y="4251960"/>
            <a:ext cx="201168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3"/>
          <p:cNvSpPr/>
          <p:nvPr/>
        </p:nvSpPr>
        <p:spPr>
          <a:xfrm>
            <a:off x="4434840" y="42519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Cross-Report Coherence Controls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2148840" y="2743200"/>
            <a:ext cx="2148840" cy="182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7" name="Shape 55"/>
          <p:cNvSpPr/>
          <p:nvPr/>
        </p:nvSpPr>
        <p:spPr>
          <a:xfrm>
            <a:off x="4279392" y="2286000"/>
            <a:ext cx="18288" cy="4754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8" name="Text 56"/>
          <p:cNvSpPr/>
          <p:nvPr/>
        </p:nvSpPr>
        <p:spPr>
          <a:xfrm>
            <a:off x="2651760" y="254203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injection</a:t>
            </a:r>
            <a:endParaRPr lang="en-US" sz="600" dirty="0"/>
          </a:p>
        </p:txBody>
      </p:sp>
      <p:sp>
        <p:nvSpPr>
          <p:cNvPr id="59" name="Shape 57"/>
          <p:cNvSpPr/>
          <p:nvPr/>
        </p:nvSpPr>
        <p:spPr>
          <a:xfrm>
            <a:off x="2148840" y="3246120"/>
            <a:ext cx="2148840" cy="18288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60" name="Shape 58"/>
          <p:cNvSpPr/>
          <p:nvPr/>
        </p:nvSpPr>
        <p:spPr>
          <a:xfrm>
            <a:off x="4279392" y="2788920"/>
            <a:ext cx="18288" cy="475488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61" name="Shape 59"/>
          <p:cNvSpPr/>
          <p:nvPr/>
        </p:nvSpPr>
        <p:spPr>
          <a:xfrm>
            <a:off x="2148840" y="3749040"/>
            <a:ext cx="2148840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2" name="Shape 60"/>
          <p:cNvSpPr/>
          <p:nvPr/>
        </p:nvSpPr>
        <p:spPr>
          <a:xfrm>
            <a:off x="4279392" y="3246120"/>
            <a:ext cx="18288" cy="5212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3" name="Shape 61"/>
          <p:cNvSpPr/>
          <p:nvPr/>
        </p:nvSpPr>
        <p:spPr>
          <a:xfrm>
            <a:off x="2148840" y="4251960"/>
            <a:ext cx="2148840" cy="182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4" name="Shape 62"/>
          <p:cNvSpPr/>
          <p:nvPr/>
        </p:nvSpPr>
        <p:spPr>
          <a:xfrm>
            <a:off x="4279392" y="3749040"/>
            <a:ext cx="18288" cy="5212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5" name="Text 63"/>
          <p:cNvSpPr/>
          <p:nvPr/>
        </p:nvSpPr>
        <p:spPr>
          <a:xfrm>
            <a:off x="658368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B82F6"/>
                </a:solidFill>
              </a:rPr>
              <a:t>→</a:t>
            </a:r>
            <a:endParaRPr lang="en-US" sz="2000" dirty="0"/>
          </a:p>
        </p:txBody>
      </p:sp>
      <p:sp>
        <p:nvSpPr>
          <p:cNvPr id="66" name="Shape 64"/>
          <p:cNvSpPr/>
          <p:nvPr/>
        </p:nvSpPr>
        <p:spPr>
          <a:xfrm>
            <a:off x="6949440" y="1371600"/>
            <a:ext cx="1828800" cy="640080"/>
          </a:xfrm>
          <a:prstGeom prst="rect">
            <a:avLst/>
          </a:prstGeom>
          <a:solidFill>
            <a:srgbClr val="122B4D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949440" y="1417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XBRL / XML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6949440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 Templates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Format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6949440" y="2148840"/>
            <a:ext cx="1828800" cy="2286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0" name="Text 68"/>
          <p:cNvSpPr/>
          <p:nvPr/>
        </p:nvSpPr>
        <p:spPr>
          <a:xfrm>
            <a:off x="6949440" y="2148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REGULATORS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6995160" y="2450592"/>
            <a:ext cx="411480" cy="201168"/>
          </a:xfrm>
          <a:prstGeom prst="rect">
            <a:avLst/>
          </a:prstGeom>
          <a:solidFill>
            <a:srgbClr val="0F234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995160" y="24505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ECB</a:t>
            </a:r>
            <a:endParaRPr lang="en-US" sz="600" dirty="0"/>
          </a:p>
        </p:txBody>
      </p:sp>
      <p:sp>
        <p:nvSpPr>
          <p:cNvPr id="73" name="Shape 71"/>
          <p:cNvSpPr/>
          <p:nvPr/>
        </p:nvSpPr>
        <p:spPr>
          <a:xfrm>
            <a:off x="7434072" y="2450592"/>
            <a:ext cx="411480" cy="201168"/>
          </a:xfrm>
          <a:prstGeom prst="rect">
            <a:avLst/>
          </a:prstGeom>
          <a:solidFill>
            <a:srgbClr val="0F234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34072" y="24505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ACPR</a:t>
            </a:r>
            <a:endParaRPr lang="en-US" sz="600" dirty="0"/>
          </a:p>
        </p:txBody>
      </p:sp>
      <p:sp>
        <p:nvSpPr>
          <p:cNvPr id="75" name="Shape 73"/>
          <p:cNvSpPr/>
          <p:nvPr/>
        </p:nvSpPr>
        <p:spPr>
          <a:xfrm>
            <a:off x="7872984" y="2450592"/>
            <a:ext cx="411480" cy="201168"/>
          </a:xfrm>
          <a:prstGeom prst="rect">
            <a:avLst/>
          </a:prstGeom>
          <a:solidFill>
            <a:srgbClr val="0F234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872984" y="24505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Bundesbank</a:t>
            </a:r>
            <a:endParaRPr lang="en-US" sz="600" dirty="0"/>
          </a:p>
        </p:txBody>
      </p:sp>
      <p:sp>
        <p:nvSpPr>
          <p:cNvPr id="77" name="Shape 75"/>
          <p:cNvSpPr/>
          <p:nvPr/>
        </p:nvSpPr>
        <p:spPr>
          <a:xfrm>
            <a:off x="8311896" y="2450592"/>
            <a:ext cx="411480" cy="201168"/>
          </a:xfrm>
          <a:prstGeom prst="rect">
            <a:avLst/>
          </a:prstGeom>
          <a:solidFill>
            <a:srgbClr val="0F234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311896" y="24505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</a:t>
            </a:r>
            <a:endParaRPr lang="en-US" sz="600" dirty="0"/>
          </a:p>
        </p:txBody>
      </p:sp>
      <p:sp>
        <p:nvSpPr>
          <p:cNvPr id="79" name="Shape 77"/>
          <p:cNvSpPr/>
          <p:nvPr/>
        </p:nvSpPr>
        <p:spPr>
          <a:xfrm>
            <a:off x="6995160" y="2706624"/>
            <a:ext cx="411480" cy="201168"/>
          </a:xfrm>
          <a:prstGeom prst="rect">
            <a:avLst/>
          </a:prstGeom>
          <a:solidFill>
            <a:srgbClr val="0F234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995160" y="270662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</a:t>
            </a:r>
            <a:endParaRPr lang="en-US" sz="600" dirty="0"/>
          </a:p>
        </p:txBody>
      </p:sp>
      <p:sp>
        <p:nvSpPr>
          <p:cNvPr id="81" name="Shape 79"/>
          <p:cNvSpPr/>
          <p:nvPr/>
        </p:nvSpPr>
        <p:spPr>
          <a:xfrm>
            <a:off x="7434072" y="2706624"/>
            <a:ext cx="411480" cy="201168"/>
          </a:xfrm>
          <a:prstGeom prst="rect">
            <a:avLst/>
          </a:prstGeom>
          <a:solidFill>
            <a:srgbClr val="0F234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434072" y="270662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</a:t>
            </a:r>
            <a:endParaRPr lang="en-US" sz="600" dirty="0"/>
          </a:p>
        </p:txBody>
      </p:sp>
      <p:sp>
        <p:nvSpPr>
          <p:cNvPr id="83" name="Shape 81"/>
          <p:cNvSpPr/>
          <p:nvPr/>
        </p:nvSpPr>
        <p:spPr>
          <a:xfrm>
            <a:off x="7872984" y="2706624"/>
            <a:ext cx="411480" cy="201168"/>
          </a:xfrm>
          <a:prstGeom prst="rect">
            <a:avLst/>
          </a:prstGeom>
          <a:solidFill>
            <a:srgbClr val="0F234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872984" y="270662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</a:t>
            </a:r>
            <a:endParaRPr lang="en-US" sz="600" dirty="0"/>
          </a:p>
        </p:txBody>
      </p:sp>
      <p:sp>
        <p:nvSpPr>
          <p:cNvPr id="85" name="Shape 83"/>
          <p:cNvSpPr/>
          <p:nvPr/>
        </p:nvSpPr>
        <p:spPr>
          <a:xfrm>
            <a:off x="6949440" y="3063240"/>
            <a:ext cx="1828800" cy="1463040"/>
          </a:xfrm>
          <a:prstGeom prst="rect">
            <a:avLst/>
          </a:prstGeom>
          <a:solidFill>
            <a:srgbClr val="122B4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949440" y="31089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PRINCIPLES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7040880" y="3337560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Necessary &amp; Sufficient
</a:t>
            </a:r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data streams
</a:t>
            </a:r>
            <a:pPr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Responsibility
</a:t>
            </a:r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function owns its data
</a:t>
            </a:r>
            <a:pPr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Gateway
</a:t>
            </a:r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submission platform
</a:t>
            </a:r>
            <a:pPr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Cross-Report Controls
</a:t>
            </a:r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Coherence validation</a:t>
            </a:r>
            <a:endParaRPr lang="en-US" sz="600" dirty="0"/>
          </a:p>
        </p:txBody>
      </p:sp>
      <p:sp>
        <p:nvSpPr>
          <p:cNvPr id="88" name="Shape 86"/>
          <p:cNvSpPr/>
          <p:nvPr/>
        </p:nvSpPr>
        <p:spPr>
          <a:xfrm>
            <a:off x="274320" y="4617720"/>
            <a:ext cx="859536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4A8A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57200" y="4681728"/>
            <a:ext cx="137160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0" name="Text 88"/>
          <p:cNvSpPr/>
          <p:nvPr/>
        </p:nvSpPr>
        <p:spPr>
          <a:xfrm>
            <a:off x="640080" y="46634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via Core LRR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1920240" y="4681728"/>
            <a:ext cx="137160" cy="1371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2" name="Text 90"/>
          <p:cNvSpPr/>
          <p:nvPr/>
        </p:nvSpPr>
        <p:spPr>
          <a:xfrm>
            <a:off x="2103120" y="46634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to Engines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3291840" y="4681728"/>
            <a:ext cx="137160" cy="137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4" name="Text 92"/>
          <p:cNvSpPr/>
          <p:nvPr/>
        </p:nvSpPr>
        <p:spPr>
          <a:xfrm>
            <a:off x="3474720" y="46634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Coherence Controls</a:t>
            </a:r>
            <a:endParaRPr lang="en-US" sz="700" dirty="0"/>
          </a:p>
        </p:txBody>
      </p:sp>
      <p:sp>
        <p:nvSpPr>
          <p:cNvPr id="95" name="Text 93"/>
          <p:cNvSpPr/>
          <p:nvPr/>
        </p:nvSpPr>
        <p:spPr>
          <a:xfrm>
            <a:off x="5029200" y="46451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</a:t>
            </a:r>
            <a:endParaRPr lang="en-US" sz="1100" dirty="0"/>
          </a:p>
        </p:txBody>
      </p:sp>
      <p:sp>
        <p:nvSpPr>
          <p:cNvPr id="96" name="Text 94"/>
          <p:cNvSpPr/>
          <p:nvPr/>
        </p:nvSpPr>
        <p:spPr>
          <a:xfrm>
            <a:off x="5440680" y="46817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regulators</a:t>
            </a:r>
            <a:endParaRPr lang="en-US" sz="700" dirty="0"/>
          </a:p>
        </p:txBody>
      </p:sp>
      <p:sp>
        <p:nvSpPr>
          <p:cNvPr id="97" name="Text 95"/>
          <p:cNvSpPr/>
          <p:nvPr/>
        </p:nvSpPr>
        <p:spPr>
          <a:xfrm>
            <a:off x="6309360" y="464515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98" name="Text 96"/>
          <p:cNvSpPr/>
          <p:nvPr/>
        </p:nvSpPr>
        <p:spPr>
          <a:xfrm>
            <a:off x="6629400" y="46817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700" dirty="0"/>
          </a:p>
        </p:txBody>
      </p:sp>
      <p:sp>
        <p:nvSpPr>
          <p:cNvPr id="99" name="Text 97"/>
          <p:cNvSpPr/>
          <p:nvPr/>
        </p:nvSpPr>
        <p:spPr>
          <a:xfrm>
            <a:off x="7406640" y="46451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100" dirty="0"/>
          </a:p>
        </p:txBody>
      </p:sp>
      <p:sp>
        <p:nvSpPr>
          <p:cNvPr id="100" name="Text 98"/>
          <p:cNvSpPr/>
          <p:nvPr/>
        </p:nvSpPr>
        <p:spPr>
          <a:xfrm>
            <a:off x="7909560" y="46817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coherence</a:t>
            </a:r>
            <a:endParaRPr lang="en-US" sz="700" dirty="0"/>
          </a:p>
        </p:txBody>
      </p:sp>
      <p:sp>
        <p:nvSpPr>
          <p:cNvPr id="101" name="Text 99"/>
          <p:cNvSpPr/>
          <p:nvPr/>
        </p:nvSpPr>
        <p:spPr>
          <a:xfrm>
            <a:off x="3200400" y="498348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bank for a changing world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7772400" y="49834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Classification: Internal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BNP Paribas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Unified Regulatory Reporting</dc:title>
  <dc:subject>PptxGenJS Presentation</dc:subject>
  <dc:creator>Finance &amp; Strategy</dc:creator>
  <cp:lastModifiedBy>Finance &amp; Strategy</cp:lastModifiedBy>
  <cp:revision>1</cp:revision>
  <dcterms:created xsi:type="dcterms:W3CDTF">2026-02-10T20:57:32Z</dcterms:created>
  <dcterms:modified xsi:type="dcterms:W3CDTF">2026-02-10T20:57:32Z</dcterms:modified>
</cp:coreProperties>
</file>
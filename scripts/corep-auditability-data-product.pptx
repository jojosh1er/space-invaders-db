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Auditability Data Product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COREP Cell Drill-Down &amp; Lineage Explorer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reported cell → FEEL rules → Source data • Full reproducibility via Data Virtualization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Reported Cell to Source Data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 with FEEL rules, data lineage, and drill-through capabilities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097280"/>
          </a:xfrm>
          <a:prstGeom prst="rect">
            <a:avLst/>
          </a:prstGeom>
          <a:solidFill>
            <a:srgbClr val="7C2D12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REPORTED CELL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C_07.01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r010 c010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1,234,567 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914400"/>
            <a:ext cx="2743200" cy="1097280"/>
          </a:xfrm>
          <a:prstGeom prst="rect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FEEL RULE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1188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LCR_OUTFLOW_CALC v2.3.1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834640" y="1389888"/>
            <a:ext cx="2560320" cy="54864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sum(outflows[category="retail"])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stress_factor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fx_rate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321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0" y="914400"/>
            <a:ext cx="2926080" cy="1097280"/>
          </a:xfrm>
          <a:prstGeom prst="rect">
            <a:avLst/>
          </a:prstGeom>
          <a:solidFill>
            <a:srgbClr val="0C4A6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960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CALCULATION INPUTS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outflows_sum = 1,180,000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stress_factor = 1.05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fx_rate = 0.9967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035040" y="1719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1,234,567.26 EUR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2194560"/>
            <a:ext cx="8595360" cy="25603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94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 DRILL-DOWN TO SOURCE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606040"/>
            <a:ext cx="2743200" cy="914400"/>
          </a:xfrm>
          <a:prstGeom prst="rect">
            <a:avLst/>
          </a:prstGeom>
          <a:solidFill>
            <a:srgbClr val="122B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liquidity_outflows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880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Records: 12,847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65760" y="30358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Snapshot: 847392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65760" y="3191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ALM Treasury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65760" y="33649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DATA →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154680" y="2606040"/>
            <a:ext cx="2743200" cy="914400"/>
          </a:xfrm>
          <a:prstGeom prst="rect">
            <a:avLst/>
          </a:prstGeom>
          <a:solidFill>
            <a:srgbClr val="122B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fx_rates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46120" y="2880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Records: 1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246120" y="30358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Snapshot: 847391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246120" y="3191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 Data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246120" y="33649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DATA →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6035040" y="2606040"/>
            <a:ext cx="2743200" cy="914400"/>
          </a:xfrm>
          <a:prstGeom prst="rect">
            <a:avLst/>
          </a:prstGeom>
          <a:solidFill>
            <a:srgbClr val="122B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lcr_parameters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2880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Records: 1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126480" y="30358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Snapshot: 847390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126480" y="3191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Risk Config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126480" y="33649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DATA →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Full traceability: Cell value → FEEL rule version → Intermediate calculations → Source records (if history available)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 as a Data Product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Exposition Layer with Virtualization + Persisted Audit Trail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560320"/>
          </a:xfrm>
          <a:prstGeom prst="rect">
            <a:avLst/>
          </a:prstGeom>
          <a:solidFill>
            <a:srgbClr val="1E3A5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DATA PRODUCT: COREP Auditability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corep-auditability-fr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Reporting / COREP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0" y="1828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Platform Team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103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71600" y="2103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 • &lt;3s drill-down • 7yr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7160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+ Live sources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Starburst SQL • REST API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371600" y="2926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• CAC • Regulators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393192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46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Schema versioned • FEEL rules versioned • Breaking changes 30d notice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297680" cy="2560320"/>
          </a:xfrm>
          <a:prstGeom prst="rect">
            <a:avLst/>
          </a:prstGeom>
          <a:solidFill>
            <a:srgbClr val="0C4A6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DATA EXPOSITION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STARBURST — Data Virtualization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queries across Iceberg audit trail + Live source systems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663440" y="2011680"/>
            <a:ext cx="196596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057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Audit Trail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Cell lineage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FEEL rules versions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Calculation snapshots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>
            <a:off x="6720840" y="2011680"/>
            <a:ext cx="205740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0574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SOURCES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1228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history depth OK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NEO GL (Teradata)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ALM Systems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Data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4114800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9443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PRODUCT BUILD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54880" y="3127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views • Business glossary • Access control • Metrics &amp; SLOs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Rules — Business Logic Transparency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Enough Expression Language (DMN standard) — Human-readable, versioned, auditable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2560320"/>
          </a:xfrm>
          <a:prstGeom prst="rect">
            <a:avLst/>
          </a:prstGeom>
          <a:solidFill>
            <a:srgbClr val="0F234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FEEL Rule: LCR_RETAIL_OUTFLOW_CALC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2.3.1 | Effective: 2024-01-15 | Hash: a3f8c2...b7d1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846320" cy="1965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LCR Retail Outflow Calculation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Regulatory reference: CRR Art. 421</a:t>
            </a:r>
            <a:endParaRPr lang="en-US" sz="550" dirty="0"/>
          </a:p>
          <a:p>
            <a:pPr indent="0" marL="0">
              <a:buNone/>
            </a:pP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LCR_RETAIL_OUTFLOW_CALC {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Input data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outflows: list&lt;OutflowRecord&gt;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stress_params: StressParameters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reporting_date: date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Filter retail outflows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retail_outflows = outflows[category = "retail"]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Apply stress factor per bucket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stressed_amount = sum(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o in retail_outflows return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o.amount * stress_params.retail_factor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Convert to reporting currency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stressed_amount * fx_rate(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o.currency, "EUR", reporting_date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550" dirty="0"/>
          </a:p>
          <a:p>
            <a:pPr indent="0" marL="0">
              <a:buNone/>
            </a:pPr>
            <a:r>
              <a:rPr lang="en-US" sz="5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5440680" y="914400"/>
            <a:ext cx="3474720" cy="1280160"/>
          </a:xfrm>
          <a:prstGeom prst="rect">
            <a:avLst/>
          </a:prstGeom>
          <a:solidFill>
            <a:srgbClr val="122B4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960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RULE METADATA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32120" y="12344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ID: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6720840" y="123444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LCR_RETAIL_OUTFLOW_CALC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5532120" y="138988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6720840" y="13898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2.3.1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5532120" y="15453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Reference: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6720840" y="154533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CRR Art. 421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5532120" y="170078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Tables: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6720840" y="170078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(outflows, params, fx)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5532120" y="18562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Cell: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6720840" y="185623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C_07.01 r010 c010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5532120" y="201168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Modified: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6720840" y="201168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2024-01-15 by J.Doe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5440680" y="2286000"/>
            <a:ext cx="3474720" cy="1188720"/>
          </a:xfrm>
          <a:prstGeom prst="rect">
            <a:avLst/>
          </a:prstGeom>
          <a:solidFill>
            <a:srgbClr val="122B4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VERSION HISTORY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32120" y="2606040"/>
            <a:ext cx="3291840" cy="1828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2.3.1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2024-01-15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6766560" y="2606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stress factor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5532120" y="2807208"/>
            <a:ext cx="329184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2.3.0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6035040" y="2807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2023-10-01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6766560" y="2807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currency conversion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5532120" y="3008376"/>
            <a:ext cx="329184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3008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2.2.0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6035040" y="30083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2023-04-15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6766560" y="3008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CRR III compliance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5532120" y="3209544"/>
            <a:ext cx="329184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2.1.0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6035040" y="32095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2022-09-01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6766560" y="3209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ITS update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Human-readable business logic  •  ✓ Version controlled with hash integrity  •  ✓ Regulatory reference linked  •  ✓ Full change history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 &amp; Drill-Through Capabilities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from aggregated cell to granular source records — powered by Data Virtualization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8092440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60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XBRL Cell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value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86000" y="10241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C_07.01 r010 c010 = 1,234,567 EUR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457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508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1508760"/>
            <a:ext cx="8092440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554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1764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by category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86000" y="16184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Retail: 1,180,000 | Corporate: 54,567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1984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4572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103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2103120"/>
            <a:ext cx="8092440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148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Sub-category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23591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product type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286000" y="22128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Deposits: 800,000 | Credit lines: 380,000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0040" y="2578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4572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2697480"/>
            <a:ext cx="8092440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2743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" y="2953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items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286000" y="28072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12,847 individual outflow records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20040" y="3172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291840"/>
            <a:ext cx="457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" y="3291840"/>
            <a:ext cx="8092440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3337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system data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286000" y="34015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ALM Treasury export @ 2024-09-30 14:00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85953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3931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DRILL-THROUGH: Click any level to see underlying data — federated query via Starburst to Iceberg + Live sources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Views — Self-Service Audit Queries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Business-friendly views over the audit trail — queryable by auditors without technical SQL knowledge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554480"/>
          </a:xfrm>
          <a:prstGeom prst="rect">
            <a:avLst/>
          </a:prstGeom>
          <a:solidFill>
            <a:srgbClr val="0F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corep_cell_trace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everything about cell C_07.01 r010 c010"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cell_reference,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reported_value,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feel_rule_name,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feel_rule_version,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calculation_inputs,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source_tables,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submission_date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corep_cell_trace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cell_reference = 'C_07.01_r010_c010'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period = '2024-Q3';</a:t>
            </a:r>
            <a:endParaRPr lang="en-US" sz="5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1554480"/>
          </a:xfrm>
          <a:prstGeom prst="rect">
            <a:avLst/>
          </a:prstGeom>
          <a:solidFill>
            <a:srgbClr val="0F23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corep_source_records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"Drill-through to individual records for a cell"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4754880" y="1389888"/>
            <a:ext cx="40233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record_id,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counterparty,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product_type,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currency,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outflow_category,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source_system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corep_source_records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cell_reference = 'C_07.01_r010_c010'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period = '2024-Q3';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4206240" cy="1417320"/>
          </a:xfrm>
          <a:prstGeom prst="rect">
            <a:avLst/>
          </a:prstGeom>
          <a:solidFill>
            <a:srgbClr val="0F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517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📜 corep_rule_history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8986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rules changed and when?"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402336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10896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rule_name,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effective_date,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change_description,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regulatory_reference,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modified_by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corep_rule_history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rule_name LIKE 'LCR_%'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effective_date DESC;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4206240" cy="1417320"/>
          </a:xfrm>
          <a:prstGeom prst="rect">
            <a:avLst/>
          </a:prstGeom>
          <a:solidFill>
            <a:srgbClr val="0F23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6517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🔄 corep_submission_diff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8986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Q3 vs Q2 — what changed?"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754880" y="3081528"/>
            <a:ext cx="402336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10896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cell_reference,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q3_value,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q2_value,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variance,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variance_pct,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main_driver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corep_submission_diff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entity = 'FR'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abs(variance_pct) &gt; 5;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74320" y="41148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views queryable via Starburst SQL or exposed as REST API endpoints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— Auditability Data Product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1188720"/>
          </a:xfrm>
          <a:prstGeom prst="rect">
            <a:avLst/>
          </a:prstGeom>
          <a:solidFill>
            <a:srgbClr val="122B4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Cell-Level Lineage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reported value traceable to source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0" y="822960"/>
            <a:ext cx="2743200" cy="1188720"/>
          </a:xfrm>
          <a:prstGeom prst="rect">
            <a:avLst/>
          </a:prstGeom>
          <a:solidFill>
            <a:srgbClr val="122B4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FEEL Rules Versioned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Human-readable, hashed, auditable logic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126480" y="822960"/>
            <a:ext cx="2743200" cy="1188720"/>
          </a:xfrm>
          <a:prstGeom prst="rect">
            <a:avLst/>
          </a:prstGeom>
          <a:solidFill>
            <a:srgbClr val="122B4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 Drill-Down/Through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from aggregate to record level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2743200" cy="1188720"/>
          </a:xfrm>
          <a:prstGeom prst="rect">
            <a:avLst/>
          </a:prstGeom>
          <a:solidFill>
            <a:srgbClr val="122B4D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 Virtualization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Starburst federates Iceberg + Live sources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2194560"/>
            <a:ext cx="2743200" cy="1188720"/>
          </a:xfrm>
          <a:prstGeom prst="rect">
            <a:avLst/>
          </a:prstGeom>
          <a:solidFill>
            <a:srgbClr val="122B4D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Data 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Contract, SLA, ownership, self-service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743200" cy="1188720"/>
          </a:xfrm>
          <a:prstGeom prst="rect">
            <a:avLst/>
          </a:prstGeom>
          <a:solidFill>
            <a:srgbClr val="122B4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Semantic Views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Business-friendly queries for auditors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(Iceberg) + Live Sources (if history OK) → Data Virtualization (Starburst) → Data Product (COREP Auditability) → Self-Service for Auditors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Auditability Data Product</dc:title>
  <dc:subject>PptxGenJS Presentation</dc:subject>
  <dc:creator>Finance &amp; Strategy</dc:creator>
  <cp:lastModifiedBy>Finance &amp; Strategy</cp:lastModifiedBy>
  <cp:revision>1</cp:revision>
  <dcterms:created xsi:type="dcterms:W3CDTF">2026-02-13T07:10:29Z</dcterms:created>
  <dcterms:modified xsi:type="dcterms:W3CDTF">2026-02-13T07:10:29Z</dcterms:modified>
</cp:coreProperties>
</file>